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rect l="0" t="0" r="0" b="0"/>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lstStyle/>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rect l="0" t="0" r="0" b="0"/>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lstStyle/>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rect l="0" t="0" r="0" b="0"/>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lstStyle/>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rect l="0" t="0" r="0" b="0"/>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lstStyle/>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rect l="0" t="0" r="0" b="0"/>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lstStyle/>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rect l="0" t="0" r="0" b="0"/>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lstStyle/>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rect l="0" t="0" r="0" b="0"/>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lstStyle/>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rect l="0" t="0" r="0" b="0"/>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lstStyle/>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rect l="0" t="0" r="0" b="0"/>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lstStyle/>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rect l="0" t="0" r="0" b="0"/>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lstStyle/>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a:t>Click to edit Master title style</a:t>
            </a:r>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a:t>Click to edit Master subtitle style</a:t>
            </a:r>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4AAD347D-5ACD-4C99-B74B-A9C85AD731AF}" type="datetimeFigureOut">
              <a:rPr lang="en-US" dirty="0"/>
              <a:t>10/27/2025</a:t>
            </a:fld>
            <a:endParaRPr lang="en-US" dirty="0"/>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dirty="0"/>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D57F1E4F-1CFF-5643-939E-02111984F565}" type="slidenum">
              <a:rPr lang="en-US" dirty="0"/>
              <a:t>‹#›</a:t>
            </a:fld>
            <a:endParaRPr 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10/27/2025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10/27/2025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96027F-7875-4030-9381-8BD8C4F21935}" type="datetimeFigureOut">
              <a:rPr lang="en-US" dirty="0"/>
              <a:t>10/27/2025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96027F-7875-4030-9381-8BD8C4F21935}" type="datetimeFigureOut">
              <a:rPr lang="en-US" dirty="0"/>
              <a:t>10/27/2025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509A250-FF31-4206-8172-F9D3106AACB1}" type="datetimeFigureOut">
              <a:rPr lang="en-US" dirty="0"/>
              <a:t>10/27/2025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dirty="0"/>
              <a:t>10/27/2025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10/27/2025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10/27/2025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10/27/2025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10/27/2025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rect l="0" t="0" r="0" b="0"/>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lstStyle/>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rect l="0" t="0" r="0" b="0"/>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lstStyle/>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rect l="0" t="0" r="0" b="0"/>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lstStyle/>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rect l="0" t="0" r="0" b="0"/>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lstStyle/>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rect l="0" t="0" r="0" b="0"/>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lstStyle/>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rect l="0" t="0" r="0" b="0"/>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lstStyle/>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rect l="0" t="0" r="0" b="0"/>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lstStyle/>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rect l="0" t="0" r="0" b="0"/>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lstStyle/>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rect l="0" t="0" r="0" b="0"/>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lstStyle/>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rect l="0" t="0" r="0" b="0"/>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lstStyle/>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ltLang="zh-CN" dirty="0"/>
              <a:t>Click to edit Master title style</a:t>
            </a:r>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4AAD347D-5ACD-4C99-B74B-A9C85AD731AF}" type="datetimeFigureOut">
              <a:rPr lang="en-US" dirty="0"/>
              <a:t>10/27/2025</a:t>
            </a:fld>
            <a:endParaRPr lang="en-US" dirty="0"/>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dirty="0"/>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D57F1E4F-1CFF-5643-939E-02111984F565}" type="slidenum">
              <a:rPr lang="en-US" dirty="0"/>
              <a:t>‹#›</a:t>
            </a:fld>
            <a:endParaRPr lang="en-US" dirty="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15446" y="2296730"/>
            <a:ext cx="9356118" cy="2165873"/>
          </a:xfrm>
          <a:noFill/>
        </p:spPr>
        <p:txBody>
          <a:bodyPr/>
          <a:lstStyle/>
          <a:p>
            <a:r>
              <a:rPr lang="en-US" b="1" dirty="0">
                <a:solidFill>
                  <a:srgbClr val="FF0000"/>
                </a:solidFill>
                <a:latin typeface="Times New Roman" panose="02020603050405020304" pitchFamily="18" charset="0"/>
                <a:cs typeface="Times New Roman" panose="02020603050405020304" pitchFamily="18" charset="0"/>
              </a:rPr>
              <a:t>LEAD SCORING CASE STUDY</a:t>
            </a:r>
          </a:p>
          <a:p>
            <a:r>
              <a:rPr lang="en-US" b="1" dirty="0">
                <a:solidFill>
                  <a:srgbClr val="FF0000"/>
                </a:solidFill>
                <a:latin typeface="Times New Roman" panose="02020603050405020304" pitchFamily="18" charset="0"/>
                <a:cs typeface="Times New Roman" panose="02020603050405020304" pitchFamily="18" charset="0"/>
              </a:rPr>
              <a:t>SUBMITTED BY:-</a:t>
            </a:r>
            <a:r>
              <a:rPr lang="en-US" dirty="0">
                <a:solidFill>
                  <a:srgbClr val="FF0000"/>
                </a:solidFill>
                <a:latin typeface="Times New Roman" panose="02020603050405020304" pitchFamily="18" charset="0"/>
                <a:cs typeface="Times New Roman" panose="02020603050405020304" pitchFamily="18" charset="0"/>
              </a:rPr>
              <a:t> AMAN KUMAR SAHOO</a:t>
            </a:r>
            <a:endParaRPr lang="en-IN"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660900" y="1334425"/>
            <a:ext cx="9868279" cy="4677410"/>
          </a:xfrm>
          <a:prstGeom prst="rect">
            <a:avLst/>
          </a:prstGeom>
        </p:spPr>
        <p:txBody>
          <a:bodyPr wrap="square">
            <a:spAutoFit/>
          </a:bodyPr>
          <a:lstStyle/>
          <a:p>
            <a:r>
              <a:rPr lang="en-IN" sz="2000" b="1" u="sng" dirty="0">
                <a:solidFill>
                  <a:srgbClr val="FF0000"/>
                </a:solidFill>
                <a:effectLst>
                  <a:outerShdw blurRad="38100" dist="38100" dir="2700000" algn="tl">
                    <a:srgbClr val="000000">
                      <a:alpha val="43137"/>
                    </a:srgbClr>
                  </a:outerShdw>
                </a:effectLst>
                <a:latin typeface="SerpentineEF" charset="0"/>
                <a:cs typeface="SerpentineEF" charset="0"/>
              </a:rPr>
              <a:t>Contents</a:t>
            </a:r>
            <a:endParaRPr lang="en-IN" sz="20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IN" dirty="0">
              <a:solidFill>
                <a:srgbClr val="FF0000"/>
              </a:solidFill>
              <a:latin typeface="Times New Roman" panose="02020603050405020304" pitchFamily="18" charset="0"/>
              <a:cs typeface="Times New Roman" panose="02020603050405020304" pitchFamily="18" charset="0"/>
            </a:endParaRPr>
          </a:p>
          <a:p>
            <a:pPr algn="l">
              <a:buClrTx/>
              <a:buSzTx/>
              <a:buFontTx/>
            </a:pPr>
            <a:r>
              <a:rPr lang="en-US" alt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1. </a:t>
            </a: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Problem statement</a:t>
            </a:r>
          </a:p>
          <a:p>
            <a:pPr algn="l">
              <a:buClrTx/>
              <a:buSzTx/>
              <a:buFontTx/>
            </a:pPr>
            <a:endPar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l">
              <a:buClrTx/>
              <a:buSzTx/>
              <a:buFontTx/>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2. Problem approach</a:t>
            </a:r>
          </a:p>
          <a:p>
            <a:pPr algn="l">
              <a:buClrTx/>
              <a:buSzTx/>
              <a:buFontTx/>
            </a:pPr>
            <a:endPar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l">
              <a:buClrTx/>
              <a:buSzTx/>
              <a:buFontTx/>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3. EDA</a:t>
            </a:r>
          </a:p>
          <a:p>
            <a:pPr algn="l">
              <a:buClrTx/>
              <a:buSzTx/>
              <a:buFontTx/>
            </a:pPr>
            <a:endPar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l">
              <a:buClrTx/>
              <a:buSzTx/>
              <a:buFontTx/>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4. Correlations</a:t>
            </a:r>
          </a:p>
          <a:p>
            <a:pPr algn="l">
              <a:buClrTx/>
              <a:buSzTx/>
              <a:buFontTx/>
            </a:pPr>
            <a:endPar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l">
              <a:buClrTx/>
              <a:buSzTx/>
              <a:buFontTx/>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5. Model Evaluation</a:t>
            </a:r>
          </a:p>
          <a:p>
            <a:pPr algn="l">
              <a:buClrTx/>
              <a:buSzTx/>
              <a:buFontTx/>
            </a:pPr>
            <a:endPar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l">
              <a:buClrTx/>
              <a:buSzTx/>
              <a:buFontTx/>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6. Observations</a:t>
            </a:r>
          </a:p>
          <a:p>
            <a:pPr algn="l">
              <a:buClrTx/>
              <a:buSzTx/>
              <a:buFontTx/>
            </a:pPr>
            <a:endPar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l">
              <a:buClrTx/>
              <a:buSzTx/>
              <a:buFontTx/>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7.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513080" y="0"/>
            <a:ext cx="10688955" cy="6722745"/>
          </a:xfrm>
          <a:prstGeom prst="rect">
            <a:avLst/>
          </a:prstGeom>
        </p:spPr>
        <p:txBody>
          <a:bodyPr wrap="square">
            <a:noAutofit/>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US" altLang="en-IN" sz="2000" b="1" u="sng" dirty="0">
                <a:solidFill>
                  <a:srgbClr val="FF0000"/>
                </a:solidFill>
                <a:effectLst>
                  <a:outerShdw blurRad="38100" dist="38100" dir="2700000" algn="tl">
                    <a:srgbClr val="000000">
                      <a:alpha val="43137"/>
                    </a:srgbClr>
                  </a:outerShdw>
                </a:effectLst>
                <a:latin typeface="SerpentineEF" charset="0"/>
                <a:cs typeface="SerpentineEF" charset="0"/>
              </a:rPr>
              <a:t>P</a:t>
            </a:r>
            <a:r>
              <a:rPr lang="en-IN" sz="2000" b="1" u="sng" dirty="0">
                <a:solidFill>
                  <a:srgbClr val="FF0000"/>
                </a:solidFill>
                <a:effectLst>
                  <a:outerShdw blurRad="38100" dist="38100" dir="2700000" algn="tl">
                    <a:srgbClr val="000000">
                      <a:alpha val="43137"/>
                    </a:srgbClr>
                  </a:outerShdw>
                </a:effectLst>
                <a:latin typeface="SerpentineEF" charset="0"/>
                <a:cs typeface="SerpentineEF" charset="0"/>
              </a:rPr>
              <a:t>ROBLEM STATEMENT</a:t>
            </a:r>
            <a:endParaRPr lang="en-IN"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IN" b="1" u="sng" dirty="0">
              <a:solidFill>
                <a:srgbClr val="FF0000"/>
              </a:solidFill>
              <a:latin typeface="Times New Roman" panose="02020603050405020304" pitchFamily="18" charset="0"/>
              <a:cs typeface="Times New Roman" panose="02020603050405020304" pitchFamily="18" charset="0"/>
            </a:endParaRPr>
          </a:p>
          <a:p>
            <a:pPr algn="l">
              <a:buClrTx/>
              <a:buSzTx/>
              <a:buFontTx/>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An education company named X Education sells online courses to industry professionals. On any given day, many professionals who are interested in the courses land on their website and browse for courses. They have a process of form filling on their website after which the company treats that individual as a lead.</a:t>
            </a:r>
          </a:p>
          <a:p>
            <a:pPr algn="l">
              <a:buClrTx/>
              <a:buSzTx/>
              <a:buFontTx/>
            </a:pPr>
            <a:endPar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l">
              <a:buClrTx/>
              <a:buSzTx/>
              <a:buFontTx/>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Once these leads are acquired, employees from the sales team start making calls, writing emails, etc. Through this process, some of the leads get converted while most do not.</a:t>
            </a:r>
          </a:p>
          <a:p>
            <a:pPr algn="l">
              <a:buClrTx/>
              <a:buSzTx/>
              <a:buFontTx/>
            </a:pPr>
            <a:endPar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l">
              <a:buClrTx/>
              <a:buSzTx/>
              <a:buFontTx/>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The typical lead conversion rate at X Education is around 30%. Now, this means if, say, they acquire 100 leads in a day, only about 30 of them are converted. To make this process more efficient, the company wishes to identify the most potential leads, also known as Hot Leads.</a:t>
            </a:r>
          </a:p>
          <a:p>
            <a:pPr algn="l">
              <a:buClrTx/>
              <a:buSzTx/>
              <a:buFontTx/>
            </a:pPr>
            <a:endPar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l">
              <a:buClrTx/>
              <a:buSzTx/>
              <a:buFontTx/>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If they successfully identify this set of leads, the lead conversion rate should go up as the sales team will now be focusing more on communicating with the potential leads rather than making calls to everyone.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452673" y="1394234"/>
            <a:ext cx="8691327" cy="3446145"/>
          </a:xfrm>
          <a:prstGeom prst="rect">
            <a:avLst/>
          </a:prstGeom>
        </p:spPr>
        <p:txBody>
          <a:bodyPr wrap="square">
            <a:spAutoFit/>
          </a:bodyPr>
          <a:lstStyle/>
          <a:p>
            <a:pPr algn="l">
              <a:buClrTx/>
              <a:buSzTx/>
              <a:buFontTx/>
            </a:pPr>
            <a:r>
              <a:rPr lang="en-IN" sz="2000" b="1" u="sng" dirty="0">
                <a:solidFill>
                  <a:srgbClr val="FF0000"/>
                </a:solidFill>
                <a:effectLst>
                  <a:outerShdw blurRad="38100" dist="38100" dir="2700000" algn="tl">
                    <a:srgbClr val="000000">
                      <a:alpha val="43137"/>
                    </a:srgbClr>
                  </a:outerShdw>
                </a:effectLst>
                <a:latin typeface="SerpentineEF" charset="0"/>
                <a:cs typeface="SerpentineEF" charset="0"/>
              </a:rPr>
              <a:t>BUSINESS OBJECTIVE</a:t>
            </a:r>
          </a:p>
          <a:p>
            <a:endParaRPr lang="en-IN" dirty="0">
              <a:solidFill>
                <a:srgbClr val="FF0000"/>
              </a:solidFill>
              <a:latin typeface="Times New Roman" panose="02020603050405020304" pitchFamily="18" charset="0"/>
              <a:cs typeface="Times New Roman" panose="02020603050405020304" pitchFamily="18" charset="0"/>
            </a:endParaRPr>
          </a:p>
          <a:p>
            <a:pPr algn="l">
              <a:buClrTx/>
              <a:buSzTx/>
              <a:buFontTx/>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Lead X wants us to build a model to give every lead a lead score between 0-100, so that they can identify the Hot Leads and increase their conversion rate as well.</a:t>
            </a:r>
          </a:p>
          <a:p>
            <a:pPr algn="l">
              <a:buClrTx/>
              <a:buSzTx/>
              <a:buFontTx/>
            </a:pPr>
            <a:endPar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l">
              <a:buClrTx/>
              <a:buSzTx/>
              <a:buFontTx/>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The CEO wants to achieve a lead conversion rate of 80%.</a:t>
            </a:r>
          </a:p>
          <a:p>
            <a:pPr algn="l">
              <a:buClrTx/>
              <a:buSzTx/>
              <a:buFontTx/>
            </a:pPr>
            <a:endPar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l">
              <a:buClrTx/>
              <a:buSzTx/>
              <a:buFontTx/>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They want the model to be able to handle future constraints as well, like peak time actions required, how to utilize full manpower, and after achieving the target, what should be the approaches.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697002" y="1361304"/>
            <a:ext cx="8492265" cy="4338320"/>
          </a:xfrm>
          <a:prstGeom prst="rect">
            <a:avLst/>
          </a:prstGeom>
        </p:spPr>
        <p:txBody>
          <a:bodyPr wrap="square">
            <a:spAutoFit/>
          </a:bodyPr>
          <a:lstStyle/>
          <a:p>
            <a:pPr algn="l">
              <a:buClrTx/>
              <a:buSzTx/>
              <a:buFontTx/>
            </a:pPr>
            <a:r>
              <a:rPr lang="en-IN" sz="2000" b="1" u="sng" dirty="0">
                <a:solidFill>
                  <a:srgbClr val="FF0000"/>
                </a:solidFill>
                <a:effectLst>
                  <a:outerShdw blurRad="38100" dist="38100" dir="2700000" algn="tl">
                    <a:srgbClr val="000000">
                      <a:alpha val="43137"/>
                    </a:srgbClr>
                  </a:outerShdw>
                </a:effectLst>
                <a:latin typeface="SerpentineEF" charset="0"/>
                <a:cs typeface="SerpentineEF" charset="0"/>
              </a:rPr>
              <a:t>Problem Approach</a:t>
            </a:r>
          </a:p>
          <a:p>
            <a:pPr algn="l">
              <a:buClrTx/>
              <a:buSzTx/>
              <a:buFontTx/>
            </a:pPr>
            <a:endParaRPr lang="en-IN" sz="2000" b="1" u="sng" dirty="0">
              <a:solidFill>
                <a:srgbClr val="FF0000"/>
              </a:solidFill>
              <a:effectLst>
                <a:outerShdw blurRad="38100" dist="38100" dir="2700000" algn="tl">
                  <a:srgbClr val="000000">
                    <a:alpha val="43137"/>
                  </a:srgbClr>
                </a:outerShdw>
              </a:effectLst>
              <a:latin typeface="SerpentineEF" charset="0"/>
              <a:cs typeface="SerpentineEF" charset="0"/>
            </a:endParaRPr>
          </a:p>
          <a:p>
            <a:endParaRPr lang="en-US" b="1" u="sng" dirty="0">
              <a:solidFill>
                <a:srgbClr val="FF0000"/>
              </a:solidFill>
              <a:latin typeface="Times New Roman" panose="02020603050405020304" pitchFamily="18" charset="0"/>
              <a:cs typeface="Times New Roman" panose="02020603050405020304" pitchFamily="18" charset="0"/>
            </a:endParaRPr>
          </a:p>
          <a:p>
            <a:pPr marL="342900" indent="-342900" algn="l">
              <a:buClrTx/>
              <a:buSzTx/>
              <a:buFont typeface="Wingdings" panose="05000000000000000000" charset="0"/>
              <a:buChar char="v"/>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Importing the data and inspecting the data frame</a:t>
            </a:r>
          </a:p>
          <a:p>
            <a:pPr marL="342900" indent="-342900" algn="l">
              <a:buClrTx/>
              <a:buSzTx/>
              <a:buFont typeface="Wingdings" panose="05000000000000000000" charset="0"/>
              <a:buChar char="v"/>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Data Preparation</a:t>
            </a:r>
          </a:p>
          <a:p>
            <a:pPr marL="342900" indent="-342900" algn="l">
              <a:buClrTx/>
              <a:buSzTx/>
              <a:buFont typeface="Wingdings" panose="05000000000000000000" charset="0"/>
              <a:buChar char="v"/>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EDA</a:t>
            </a:r>
          </a:p>
          <a:p>
            <a:pPr marL="342900" indent="-342900" algn="l">
              <a:buClrTx/>
              <a:buSzTx/>
              <a:buFont typeface="Wingdings" panose="05000000000000000000" charset="0"/>
              <a:buChar char="v"/>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Dummy variable creation</a:t>
            </a:r>
          </a:p>
          <a:p>
            <a:pPr marL="342900" indent="-342900" algn="l">
              <a:buClrTx/>
              <a:buSzTx/>
              <a:buFont typeface="Wingdings" panose="05000000000000000000" charset="0"/>
              <a:buChar char="v"/>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Test Train Split</a:t>
            </a:r>
          </a:p>
          <a:p>
            <a:pPr marL="342900" indent="-342900" algn="l">
              <a:buClrTx/>
              <a:buSzTx/>
              <a:buFont typeface="Wingdings" panose="05000000000000000000" charset="0"/>
              <a:buChar char="v"/>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Corrections</a:t>
            </a:r>
          </a:p>
          <a:p>
            <a:pPr marL="342900" indent="-342900" algn="l">
              <a:buClrTx/>
              <a:buSzTx/>
              <a:buFont typeface="Wingdings" panose="05000000000000000000" charset="0"/>
              <a:buChar char="v"/>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Features Scaling</a:t>
            </a:r>
          </a:p>
          <a:p>
            <a:pPr marL="342900" indent="-342900" algn="l">
              <a:buClrTx/>
              <a:buSzTx/>
              <a:buFont typeface="Wingdings" panose="05000000000000000000" charset="0"/>
              <a:buChar char="v"/>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Model Building (RFI Required VIF and PVALUES)</a:t>
            </a:r>
          </a:p>
          <a:p>
            <a:pPr marL="342900" indent="-342900" algn="l">
              <a:buClrTx/>
              <a:buSzTx/>
              <a:buFont typeface="Wingdings" panose="05000000000000000000" charset="0"/>
              <a:buChar char="v"/>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Making Prediction On Test Set</a:t>
            </a:r>
          </a:p>
          <a:p>
            <a:pPr marL="342900" indent="-342900" algn="l">
              <a:buClrTx/>
              <a:buSzTx/>
              <a:buFont typeface="Wingdings" panose="05000000000000000000" charset="0"/>
              <a:buChar char="v"/>
            </a:pPr>
            <a:r>
              <a:rPr lang="en-IN" sz="2000" b="1" u="sng"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Model Evalution</a:t>
            </a:r>
          </a:p>
          <a:p>
            <a:endParaRPr lang="en-IN" b="1" u="sng"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4091940" y="330200"/>
            <a:ext cx="3138805" cy="398780"/>
          </a:xfrm>
          <a:prstGeom prst="rect">
            <a:avLst/>
          </a:prstGeom>
        </p:spPr>
        <p:txBody>
          <a:bodyPr wrap="square">
            <a:spAutoFit/>
          </a:bodyPr>
          <a:lstStyle/>
          <a:p>
            <a:pPr algn="l">
              <a:buClrTx/>
              <a:buSzTx/>
              <a:buFontTx/>
            </a:pPr>
            <a:r>
              <a:rPr lang="en-IN" sz="2000" b="1" u="sng" dirty="0">
                <a:solidFill>
                  <a:srgbClr val="FF0000"/>
                </a:solidFill>
                <a:effectLst>
                  <a:outerShdw blurRad="38100" dist="38100" dir="2700000" algn="tl">
                    <a:srgbClr val="000000">
                      <a:alpha val="43137"/>
                    </a:srgbClr>
                  </a:outerShdw>
                </a:effectLst>
                <a:latin typeface="SerpentineEF" charset="0"/>
                <a:cs typeface="SerpentineEF" charset="0"/>
              </a:rPr>
              <a:t>EDA-Data Cleaning</a:t>
            </a:r>
          </a:p>
        </p:txBody>
      </p:sp>
      <p:pic>
        <p:nvPicPr>
          <p:cNvPr id="3" name="Picture 2"/>
          <p:cNvPicPr>
            <a:picLocks noChangeAspect="1"/>
          </p:cNvPicPr>
          <p:nvPr/>
        </p:nvPicPr>
        <p:blipFill rotWithShape="1">
          <a:blip r:embed="rId2" cstate="screen"/>
          <a:srcRect l="-101" t="26563" r="30847" b="11351"/>
          <a:stretch>
            <a:fillRect/>
          </a:stretch>
        </p:blipFill>
        <p:spPr>
          <a:xfrm>
            <a:off x="497941" y="859527"/>
            <a:ext cx="4725909" cy="2669071"/>
          </a:xfrm>
          <a:prstGeom prst="rect">
            <a:avLst/>
          </a:prstGeom>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25292" t="30563" r="6211" b="15031"/>
          <a:stretch>
            <a:fillRect/>
          </a:stretch>
        </p:blipFill>
        <p:spPr>
          <a:xfrm>
            <a:off x="5821380" y="859527"/>
            <a:ext cx="5785164" cy="2584699"/>
          </a:xfrm>
          <a:prstGeom prst="rect">
            <a:avLst/>
          </a:prstGeo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15038" t="30243" r="32143" b="26713"/>
          <a:stretch>
            <a:fillRect/>
          </a:stretch>
        </p:blipFill>
        <p:spPr>
          <a:xfrm>
            <a:off x="2833734" y="3874883"/>
            <a:ext cx="5655486" cy="27069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872901" y="953807"/>
            <a:ext cx="10028555" cy="1014730"/>
          </a:xfrm>
          <a:prstGeom prst="rect">
            <a:avLst/>
          </a:prstGeom>
        </p:spPr>
        <p:txBody>
          <a:bodyPr wrap="none">
            <a:spAutoFit/>
          </a:bodyPr>
          <a:lstStyle/>
          <a:p>
            <a:r>
              <a:rPr lang="en-IN" sz="2000" b="1" u="sng" dirty="0">
                <a:solidFill>
                  <a:srgbClr val="FF0000"/>
                </a:solidFill>
                <a:effectLst>
                  <a:outerShdw blurRad="38100" dist="38100" dir="2700000" algn="tl">
                    <a:srgbClr val="000000">
                      <a:alpha val="43137"/>
                    </a:srgbClr>
                  </a:outerShdw>
                </a:effectLst>
                <a:latin typeface="SerpentineEF" charset="0"/>
                <a:cs typeface="SerpentineEF" charset="0"/>
              </a:rPr>
              <a:t>Specilization</a:t>
            </a:r>
            <a:endParaRPr lang="en-US" b="1" u="sng" dirty="0">
              <a:solidFill>
                <a:srgbClr val="FF0000"/>
              </a:solidFill>
            </a:endParaRPr>
          </a:p>
          <a:p>
            <a:pPr indent="0" algn="l">
              <a:buClrTx/>
              <a:buSzTx/>
              <a:buNone/>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Lead From HR, Finance And Marketing Management Specilization are High Probability </a:t>
            </a:r>
          </a:p>
          <a:p>
            <a:pPr indent="0" algn="l">
              <a:buClrTx/>
              <a:buSzTx/>
              <a:buNone/>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To Convert.</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0792" t="42564" r="25113" b="9752"/>
          <a:stretch>
            <a:fillRect/>
          </a:stretch>
        </p:blipFill>
        <p:spPr>
          <a:xfrm>
            <a:off x="1774479" y="2027977"/>
            <a:ext cx="8800760" cy="43637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30517" y="265744"/>
            <a:ext cx="10495915" cy="675640"/>
          </a:xfrm>
          <a:prstGeom prst="rect">
            <a:avLst/>
          </a:prstGeom>
        </p:spPr>
        <p:txBody>
          <a:bodyPr wrap="none">
            <a:spAutoFit/>
          </a:bodyPr>
          <a:lstStyle/>
          <a:p>
            <a:r>
              <a:rPr lang="en-US"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LEAD SOURCE AND LEAD</a:t>
            </a:r>
          </a:p>
          <a:p>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Origin in lead source  the lead through Google and Direct Traffic Hhi Probability To Convert</a:t>
            </a:r>
            <a:endParaRPr lang="en-IN" dirty="0">
              <a:solidFill>
                <a:srgbClr val="FF000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339" t="28643" r="33033" b="11511"/>
          <a:stretch>
            <a:fillRect/>
          </a:stretch>
        </p:blipFill>
        <p:spPr>
          <a:xfrm>
            <a:off x="465494" y="1105066"/>
            <a:ext cx="5631351" cy="2933322"/>
          </a:xfrm>
          <a:prstGeom prst="rect">
            <a:avLst/>
          </a:prstGeom>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35734" t="28163" r="10531" b="11671"/>
          <a:stretch>
            <a:fillRect/>
          </a:stretch>
        </p:blipFill>
        <p:spPr>
          <a:xfrm>
            <a:off x="6518494" y="1040736"/>
            <a:ext cx="4861712" cy="3061983"/>
          </a:xfrm>
          <a:prstGeom prst="rect">
            <a:avLst/>
          </a:prstGeo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10981" t="33923" r="23943" b="23032"/>
          <a:stretch>
            <a:fillRect/>
          </a:stretch>
        </p:blipFill>
        <p:spPr>
          <a:xfrm>
            <a:off x="2403695" y="4231379"/>
            <a:ext cx="6804153" cy="25315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313852" y="330079"/>
            <a:ext cx="9916563" cy="1014730"/>
          </a:xfrm>
          <a:prstGeom prst="rect">
            <a:avLst/>
          </a:prstGeom>
        </p:spPr>
        <p:txBody>
          <a:bodyPr wrap="square">
            <a:spAutoFit/>
          </a:bodyPr>
          <a:lstStyle/>
          <a:p>
            <a:r>
              <a:rPr lang="en-IN" sz="2000" b="1" u="sng" dirty="0">
                <a:solidFill>
                  <a:srgbClr val="FF0000"/>
                </a:solidFill>
                <a:effectLst>
                  <a:outerShdw blurRad="38100" dist="38100" dir="2700000" algn="tl">
                    <a:srgbClr val="000000">
                      <a:alpha val="43137"/>
                    </a:srgbClr>
                  </a:outerShdw>
                </a:effectLst>
                <a:latin typeface="SerpentineEF" charset="0"/>
                <a:cs typeface="SerpentineEF" charset="0"/>
              </a:rPr>
              <a:t>LAST LEAD ACTIVITY</a:t>
            </a:r>
          </a:p>
          <a:p>
            <a:pPr algn="l">
              <a:buClrTx/>
              <a:buSzTx/>
              <a:buFontTx/>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LEADS WHICH ARE OPENING EMAIL HAVE HIGH PROBABILITY TO CONVERT, </a:t>
            </a:r>
          </a:p>
          <a:p>
            <a:pPr algn="l">
              <a:buClrTx/>
              <a:buSzTx/>
              <a:buFontTx/>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SENDING SMS WILL ALSO BENEFIT</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0162" t="29603" r="20432" b="20312"/>
          <a:stretch>
            <a:fillRect/>
          </a:stretch>
        </p:blipFill>
        <p:spPr>
          <a:xfrm>
            <a:off x="624689" y="1403287"/>
            <a:ext cx="10728790" cy="50880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259715" y="298450"/>
            <a:ext cx="11823700" cy="1906905"/>
          </a:xfrm>
          <a:prstGeom prst="rect">
            <a:avLst/>
          </a:prstGeom>
        </p:spPr>
        <p:txBody>
          <a:bodyPr wrap="square">
            <a:spAutoFit/>
          </a:bodyPr>
          <a:lstStyle/>
          <a:p>
            <a:pPr algn="l">
              <a:buClrTx/>
              <a:buSzTx/>
              <a:buFontTx/>
            </a:pPr>
            <a:r>
              <a:rPr lang="en-IN" sz="2000" b="1" u="sng" dirty="0">
                <a:solidFill>
                  <a:srgbClr val="FF0000"/>
                </a:solidFill>
                <a:effectLst>
                  <a:outerShdw blurRad="38100" dist="38100" dir="2700000" algn="tl">
                    <a:srgbClr val="000000">
                      <a:alpha val="43137"/>
                    </a:srgbClr>
                  </a:outerShdw>
                </a:effectLst>
                <a:latin typeface="SerpentineEF" charset="0"/>
                <a:cs typeface="SerpentineEF" charset="0"/>
              </a:rPr>
              <a:t>MODEL EVALUATION</a:t>
            </a:r>
          </a:p>
          <a:p>
            <a:pPr algn="l">
              <a:buClrTx/>
              <a:buSzTx/>
              <a:buFontTx/>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ROC CURVE</a:t>
            </a:r>
          </a:p>
          <a:p>
            <a:pPr algn="l">
              <a:buClrTx/>
              <a:buSzTx/>
              <a:buFontTx/>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 0.42 IS THE TRADEOFF BETWEEN PRECISION AND RECALL THUS WE CAN TO CONSIDER ANY PROSPECT LEAD WITH CONVERSION PROBABILITY HIGHER</a:t>
            </a:r>
          </a:p>
          <a:p>
            <a:pPr algn="l">
              <a:buClrTx/>
              <a:buSzTx/>
              <a:buFontTx/>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 TO BE A HOT LEAD</a:t>
            </a:r>
          </a:p>
          <a:p>
            <a:endParaRPr lang="en-IN"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8002" t="36923" r="51485" b="22872"/>
          <a:stretch>
            <a:fillRect/>
          </a:stretch>
        </p:blipFill>
        <p:spPr>
          <a:xfrm>
            <a:off x="506994" y="2175127"/>
            <a:ext cx="4949044" cy="3795728"/>
          </a:xfrm>
          <a:prstGeom prst="rect">
            <a:avLst/>
          </a:prstGeom>
        </p:spPr>
      </p:pic>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51755" t="36004" r="15842" b="22713"/>
          <a:stretch>
            <a:fillRect/>
          </a:stretch>
        </p:blipFill>
        <p:spPr>
          <a:xfrm>
            <a:off x="5957181" y="2175127"/>
            <a:ext cx="5422690" cy="388626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603564" y="633649"/>
            <a:ext cx="9889402" cy="6154420"/>
          </a:xfrm>
          <a:prstGeom prst="rect">
            <a:avLst/>
          </a:prstGeom>
        </p:spPr>
        <p:txBody>
          <a:bodyPr wrap="square">
            <a:spAutoFit/>
          </a:bodyPr>
          <a:lstStyle/>
          <a:p>
            <a:r>
              <a:rPr lang="en-IN" sz="2000" b="1" u="sng" dirty="0">
                <a:solidFill>
                  <a:srgbClr val="FF0000"/>
                </a:solidFill>
                <a:effectLst>
                  <a:outerShdw blurRad="38100" dist="38100" dir="2700000" algn="tl">
                    <a:srgbClr val="000000">
                      <a:alpha val="43137"/>
                    </a:srgbClr>
                  </a:outerShdw>
                </a:effectLst>
                <a:latin typeface="SerpentineEF" charset="0"/>
                <a:cs typeface="SerpentineEF" charset="0"/>
              </a:rPr>
              <a:t>OBSERVATIONS</a:t>
            </a:r>
            <a:endParaRPr lang="en-IN"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IN"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solidFill>
                <a:srgbClr val="FF0000"/>
              </a:solidFill>
              <a:latin typeface="Times New Roman" panose="02020603050405020304" pitchFamily="18" charset="0"/>
              <a:cs typeface="Times New Roman" panose="02020603050405020304" pitchFamily="18" charset="0"/>
            </a:endParaRP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TRAINDATA: ACCURACY: 80% </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SENSITIVITY: 77%</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SPECIFICITY: 80% </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TESTDATA: </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ACCURACY: 80%</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SENSITIVITY: 77% </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SPECIFICITY: 80%</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FINALFEATURESLIST: </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LEADSOURCE_OLARKCHAT</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SPECIALIZATION_OTHERS</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LEADORIGIN_LEADADDFORM</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LEADSOURCE_WELINGAKWEBSITE</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TOTALTIMESPENTONWEBSITE</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LEADORIGIN_LANDINGPAGESUBMISSION</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WHAT ISYOURCURRENTOCCUPATION_WORKINGPROFESSIONALS</a:t>
            </a:r>
          </a:p>
          <a:p>
            <a:pPr marL="342900" indent="-342900" algn="l">
              <a:buClrTx/>
              <a:buSzTx/>
              <a:buFont typeface="Wingdings" panose="05000000000000000000" charset="0"/>
              <a:buChar char="v"/>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DONOTEMAIL</a:t>
            </a: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324040" y="908540"/>
            <a:ext cx="11258359" cy="3724096"/>
          </a:xfrm>
          <a:prstGeom prst="rect">
            <a:avLst/>
          </a:prstGeom>
        </p:spPr>
        <p:txBody>
          <a:bodyPr wrap="square">
            <a:spAutoFit/>
          </a:bodyPr>
          <a:lstStyle/>
          <a:p>
            <a:r>
              <a:rPr lang="en-IN" sz="2000" b="1" u="sng" dirty="0">
                <a:solidFill>
                  <a:srgbClr val="FF0000"/>
                </a:solidFill>
                <a:effectLst>
                  <a:outerShdw blurRad="38100" dist="38100" dir="2700000" algn="tl">
                    <a:srgbClr val="000000">
                      <a:alpha val="43137"/>
                    </a:srgbClr>
                  </a:outerShdw>
                </a:effectLst>
                <a:latin typeface="SerpentineEF" charset="0"/>
                <a:cs typeface="SerpentineEF" charset="0"/>
              </a:rPr>
              <a:t>CONCLUSION</a:t>
            </a:r>
            <a:endParaRPr lang="en-IN"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US"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US"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indent="0" algn="l">
              <a:buClrTx/>
              <a:buSzTx/>
              <a:buNone/>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❖WE SEE THAT THE CONVERSION RATE IS 30-35% (CLOSE TO AVERAGE) FOR API AND</a:t>
            </a:r>
          </a:p>
          <a:p>
            <a:pPr indent="0" algn="l">
              <a:buClrTx/>
              <a:buSzTx/>
              <a:buNone/>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 LANDING PAGE SUBMISSION. BUT VERY LOW FOR LEAD ADD FORM AND LEAD IMPORT. </a:t>
            </a:r>
          </a:p>
          <a:p>
            <a:pPr indent="0" algn="l">
              <a:buClrTx/>
              <a:buSzTx/>
              <a:buNone/>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THEREFORE WE CAN INTERVENE THAT WE NEED TO FOCUS MORE ON THE LEADS ORIGINATED</a:t>
            </a:r>
          </a:p>
          <a:p>
            <a:pPr indent="0" algn="l">
              <a:buClrTx/>
              <a:buSzTx/>
              <a:buNone/>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 FROM API AND LANDING PAGE SUBMISSION.</a:t>
            </a:r>
          </a:p>
          <a:p>
            <a:pPr indent="0" algn="l">
              <a:buClrTx/>
              <a:buSzTx/>
              <a:buNone/>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❖WE SEE MAX NUMBER OF LEADS ARE GENERATED BY GOOGLE / DIRECT TRAFFIC. MAX</a:t>
            </a:r>
          </a:p>
          <a:p>
            <a:pPr indent="0" algn="l">
              <a:buClrTx/>
              <a:buSzTx/>
              <a:buNone/>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 CONVERSION RATIO IS BY REFERENCE AND WELINGAK WEBSITE.</a:t>
            </a:r>
          </a:p>
          <a:p>
            <a:pPr indent="0" algn="l">
              <a:buClrTx/>
              <a:buSzTx/>
              <a:buNone/>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❖LEADS WHO SPENT MORE TIME ON WEBSITE , MORE LIKELY TO CONVERT.</a:t>
            </a:r>
          </a:p>
          <a:p>
            <a:pPr indent="0" algn="l">
              <a:buClrTx/>
              <a:buSzTx/>
              <a:buNone/>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 ❖MOST COMMON LAST ACTIVITY IS EMAIL OPENED. HIGHEST RATE = SMS SENT. MAX ARE</a:t>
            </a:r>
          </a:p>
          <a:p>
            <a:pPr indent="0" algn="l">
              <a:buClrTx/>
              <a:buSzTx/>
              <a:buNone/>
            </a:pPr>
            <a:r>
              <a:rPr lang="en-IN" sz="2000" b="1" dirty="0">
                <a:solidFill>
                  <a:srgbClr val="FF0000"/>
                </a:solidFill>
                <a:effectLst>
                  <a:outerShdw blurRad="38100" dist="38100" dir="2700000" algn="tl">
                    <a:srgbClr val="000000">
                      <a:alpha val="43137"/>
                    </a:srgbClr>
                  </a:outerShdw>
                </a:effectLst>
                <a:latin typeface="Bahnschrift" panose="020B0502040204020203" charset="0"/>
                <a:cs typeface="Bahnschrift" panose="020B0502040204020203" charset="0"/>
              </a:rPr>
              <a:t> UNEMPLOYED. MAX CONVERSION WITH WORKING PROFESSIONAL.</a:t>
            </a:r>
          </a:p>
        </p:txBody>
      </p:sp>
    </p:spTree>
  </p:cSld>
  <p:clrMapOvr>
    <a:masterClrMapping/>
  </p:clrMapOvr>
</p:sld>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11</TotalTime>
  <Words>613</Words>
  <Application>Microsoft Office PowerPoint</Application>
  <PresentationFormat>Widescreen</PresentationFormat>
  <Paragraphs>92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Bahnschrift</vt:lpstr>
      <vt:lpstr>SerpentineEF</vt:lpstr>
      <vt:lpstr>Times New Roman</vt:lpstr>
      <vt:lpstr>Wingdings</vt:lpstr>
      <vt:lpstr>Art_mountaineering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 SCORING CASE STUDY USING LOGISTIC REGRESSION SUBMITTED BY: Rajat Meshram</dc:title>
  <dc:creator>Rajat Meshram</dc:creator>
  <cp:lastModifiedBy>Sahoo, Aman Kumar (CW)</cp:lastModifiedBy>
  <cp:revision>18</cp:revision>
  <dcterms:created xsi:type="dcterms:W3CDTF">2025-07-21T16:18:00Z</dcterms:created>
  <dcterms:modified xsi:type="dcterms:W3CDTF">2025-10-27T15:20:27Z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F80ED7BF3F284169B4C613D95E5907C1_13</vt:lpwstr>
  </property>
  <property fmtid="{D5CDD505-2E9C-101B-9397-08002B2CF9AE}" pid="3" name="KSOProductBuildVer">
    <vt:lpwstr>1033-12.2.0.22549</vt:lpwstr>
  </property>
</Properties>
</file>